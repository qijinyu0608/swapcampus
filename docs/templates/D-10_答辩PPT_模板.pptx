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748407"/>
            <a:ext cx="10085832" cy="100457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400" b="1">
                <a:solidFill>
                  <a:srgbClr val="1A7A3D"/>
                </a:solidFill>
                <a:latin typeface="Microsoft YaHei"/>
              </a:rPr>
              <a:t>软件工程课程设计答辩</a:t>
            </a:r>
            <a:endParaRPr sz="3400" b="1">
              <a:solidFill>
                <a:srgbClr val="1A7A3D"/>
              </a:solidFill>
              <a:latin typeface="Microsoft YaHei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>
                <a:solidFill>
                  <a:srgbClr val="666666"/>
                </a:solidFill>
                <a:latin typeface="Microsoft YaHei"/>
              </a:rPr>
              <a:t>SwapCampus</a:t>
            </a:r>
            <a:r>
              <a:rPr sz="1800" b="0">
                <a:solidFill>
                  <a:srgbClr val="666666"/>
                </a:solidFill>
                <a:latin typeface="Microsoft YaHei"/>
              </a:rPr>
              <a:t>  |  第 __ 组  |  20</a:t>
            </a:r>
            <a:r>
              <a:rPr lang="en-US" sz="1800" b="0">
                <a:solidFill>
                  <a:srgbClr val="666666"/>
                </a:solidFill>
                <a:latin typeface="Microsoft YaHei"/>
              </a:rPr>
              <a:t>26</a:t>
            </a:r>
            <a:r>
              <a:rPr sz="1800" b="0">
                <a:solidFill>
                  <a:srgbClr val="666666"/>
                </a:solidFill>
                <a:latin typeface="Microsoft YaHei"/>
              </a:rPr>
              <a:t>-</a:t>
            </a:r>
            <a:r>
              <a:rPr lang="en-US" sz="1800" b="0">
                <a:solidFill>
                  <a:srgbClr val="666666"/>
                </a:solidFill>
                <a:latin typeface="Microsoft YaHei"/>
              </a:rPr>
              <a:t>06</a:t>
            </a:r>
            <a:r>
              <a:rPr sz="1800" b="0">
                <a:solidFill>
                  <a:srgbClr val="666666"/>
                </a:solidFill>
                <a:latin typeface="Microsoft YaHei"/>
              </a:rPr>
              <a:t>-</a:t>
            </a:r>
            <a:r>
              <a:rPr lang="en-US" sz="1800" b="0">
                <a:solidFill>
                  <a:srgbClr val="666666"/>
                </a:solidFill>
                <a:latin typeface="Microsoft YaHei"/>
              </a:rPr>
              <a:t>16</a:t>
            </a:r>
            <a:endParaRPr lang="en-US" sz="1800" b="0">
              <a:solidFill>
                <a:srgbClr val="666666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tIns="0" rIns="27432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团队介绍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组长 / 组员 / 分工</a:t>
            </a:r>
            <a:endParaRPr sz="2000" b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指导教师致谢</a:t>
            </a:r>
            <a:endParaRPr sz="2000" b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2 / 17</a:t>
            </a:r>
            <a:endParaRPr sz="1000" b="0">
              <a:solidFill>
                <a:srgbClr val="8C8C8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tIns="0" rIns="27432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项目背景与目标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为什么做</a:t>
            </a:r>
            <a:endParaRPr sz="2000" b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为谁做</a:t>
            </a:r>
            <a:endParaRPr sz="2000" b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做到什么程度</a:t>
            </a:r>
            <a:endParaRPr sz="2000" b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3 / 17</a:t>
            </a:r>
            <a:endParaRPr sz="1000" b="0">
              <a:solidFill>
                <a:srgbClr val="8C8C8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tIns="0" rIns="27432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需求亮点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Top 3 核心场景</a:t>
            </a:r>
            <a:endParaRPr sz="2000" b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业务规则关键点</a:t>
            </a:r>
            <a:endParaRPr sz="2000" b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4 / 17</a:t>
            </a:r>
            <a:endParaRPr sz="1000" b="0">
              <a:solidFill>
                <a:srgbClr val="8C8C8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tIns="0" rIns="27432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系统总体架构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一图讲清架构</a:t>
            </a:r>
            <a:endParaRPr sz="2000" b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关键技术选型</a:t>
            </a:r>
            <a:endParaRPr sz="2000" b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5 / 17</a:t>
            </a:r>
            <a:endParaRPr sz="1000" b="0">
              <a:solidFill>
                <a:srgbClr val="8C8C8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tIns="0" rIns="27432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数据库设计概览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核心实体与关系</a:t>
            </a:r>
            <a:endParaRPr sz="2000" b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关键设计决策</a:t>
            </a:r>
            <a:endParaRPr sz="2000" b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6 / 17</a:t>
            </a:r>
            <a:endParaRPr sz="1000" b="0">
              <a:solidFill>
                <a:srgbClr val="8C8C8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tIns="0" rIns="27432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关键模块实现（一）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模块名 / 难点 / 解法</a:t>
            </a:r>
            <a:endParaRPr sz="2000" b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7 / 17</a:t>
            </a:r>
            <a:endParaRPr sz="1000" b="0">
              <a:solidFill>
                <a:srgbClr val="8C8C8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tIns="0" rIns="27432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关键模块实现（二）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模块名 / 难点 / 解法</a:t>
            </a:r>
            <a:endParaRPr sz="2000" b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8 / 17</a:t>
            </a:r>
            <a:endParaRPr sz="1000" b="0">
              <a:solidFill>
                <a:srgbClr val="8C8C8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64592"/>
            <a:ext cx="10058400" cy="457200"/>
          </a:xfrm>
          <a:prstGeom prst="rect">
            <a:avLst/>
          </a:prstGeom>
          <a:noFill/>
        </p:spPr>
        <p:txBody>
          <a:bodyPr wrap="none" lIns="27432" tIns="0" rIns="27432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关键算法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353312"/>
            <a:ext cx="10469880" cy="4526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算法选择与复杂度</a:t>
            </a:r>
            <a:endParaRPr sz="2000" b="0">
              <a:solidFill>
                <a:srgbClr val="2B2B2B"/>
              </a:solidFill>
              <a:latin typeface="Microsoft YaHei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2B2B2B"/>
                </a:solidFill>
                <a:latin typeface="Microsoft YaHei"/>
              </a:rPr>
              <a:t>• 与替代方案对比</a:t>
            </a:r>
            <a:endParaRPr sz="2000" b="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6355080"/>
            <a:ext cx="104698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8C8C"/>
                </a:solidFill>
                <a:latin typeface="Microsoft YaHei"/>
              </a:rPr>
              <a:t>9 / 17</a:t>
            </a:r>
            <a:endParaRPr sz="1000" b="0">
              <a:solidFill>
                <a:srgbClr val="8C8C8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系统演示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演示路径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现场或视频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10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测试与质量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覆盖率 / 性能 / 缺陷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11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部署与可观测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部署拓扑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关键监控指标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12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项目管理与协作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里程碑达成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风险处置案例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13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AI 工具使用申报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工具 / 用途 / 比例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14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遇到的最大挑战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挑战 / 解决过程 / 收获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15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总结与展望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主要成果</a:t>
            </a:r>
            <a:endParaRPr sz="1800">
              <a:solidFill>
                <a:srgbClr val="2B2B2B"/>
              </a:solidFill>
              <a:latin typeface="Microsoft YaHei"/>
            </a:endParaRP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后续可演进方向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16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Q&amp;A</a:t>
            </a:r>
            <a:endParaRPr sz="2600" b="1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谢谢评委！欢迎提问。</a:t>
            </a:r>
            <a:endParaRPr sz="1800">
              <a:solidFill>
                <a:srgbClr val="2B2B2B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17 / 17</a:t>
            </a:r>
            <a:endParaRPr sz="1000">
              <a:solidFill>
                <a:srgbClr val="999999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WPS 演示</Application>
  <PresentationFormat>On-screen Show (4:3)</PresentationFormat>
  <Paragraphs>110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Arial</vt:lpstr>
      <vt:lpstr>Times New Roman</vt:lpstr>
      <vt:lpstr>Microsoft YaHei</vt:lpstr>
      <vt:lpstr>Droid Sans Fallback</vt:lpstr>
      <vt:lpstr>Calibri</vt:lpstr>
      <vt:lpstr>SimSun</vt:lpstr>
      <vt:lpstr>方正书宋_GBK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TH1RT3EN</cp:lastModifiedBy>
  <cp:revision>2</cp:revision>
  <dcterms:created xsi:type="dcterms:W3CDTF">2026-06-15T11:35:59Z</dcterms:created>
  <dcterms:modified xsi:type="dcterms:W3CDTF">2026-06-15T11:35:59Z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11FC2E655BBAB7209FE32F6ABD59CB76_42</vt:lpwstr>
  </property>
  <property fmtid="{D5CDD505-2E9C-101B-9397-08002B2CF9AE}" pid="3" name="KSOProductBuildVer">
    <vt:lpwstr>2052-12.1.2.25882</vt:lpwstr>
  </property>
</Properties>
</file>